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1" r:id="rId4"/>
    <p:sldId id="263" r:id="rId5"/>
    <p:sldId id="262" r:id="rId6"/>
    <p:sldId id="267" r:id="rId7"/>
    <p:sldId id="269" r:id="rId8"/>
    <p:sldId id="264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3ADDBBD1-5D59-4262-8AE4-8C93FFF8CECA}">
          <p14:sldIdLst>
            <p14:sldId id="256"/>
            <p14:sldId id="257"/>
            <p14:sldId id="261"/>
            <p14:sldId id="263"/>
            <p14:sldId id="262"/>
            <p14:sldId id="267"/>
            <p14:sldId id="269"/>
            <p14:sldId id="264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E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A4952-F44A-468F-B06B-02EDF1F19E05}" type="datetimeFigureOut">
              <a:rPr lang="zh-TW" altLang="en-US" smtClean="0"/>
              <a:t>2021/1/12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10E92-DAAC-4D50-A945-FFE31EEA664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7478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A4952-F44A-468F-B06B-02EDF1F19E05}" type="datetimeFigureOut">
              <a:rPr lang="zh-TW" altLang="en-US" smtClean="0"/>
              <a:t>2021/1/12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10E92-DAAC-4D50-A945-FFE31EEA664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5474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A4952-F44A-468F-B06B-02EDF1F19E05}" type="datetimeFigureOut">
              <a:rPr lang="zh-TW" altLang="en-US" smtClean="0"/>
              <a:t>2021/1/12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10E92-DAAC-4D50-A945-FFE31EEA664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4038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A4952-F44A-468F-B06B-02EDF1F19E05}" type="datetimeFigureOut">
              <a:rPr lang="zh-TW" altLang="en-US" smtClean="0"/>
              <a:t>2021/1/12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10E92-DAAC-4D50-A945-FFE31EEA664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0981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A4952-F44A-468F-B06B-02EDF1F19E05}" type="datetimeFigureOut">
              <a:rPr lang="zh-TW" altLang="en-US" smtClean="0"/>
              <a:t>2021/1/12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10E92-DAAC-4D50-A945-FFE31EEA664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6155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A4952-F44A-468F-B06B-02EDF1F19E05}" type="datetimeFigureOut">
              <a:rPr lang="zh-TW" altLang="en-US" smtClean="0"/>
              <a:t>2021/1/12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10E92-DAAC-4D50-A945-FFE31EEA664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2752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A4952-F44A-468F-B06B-02EDF1F19E05}" type="datetimeFigureOut">
              <a:rPr lang="zh-TW" altLang="en-US" smtClean="0"/>
              <a:t>2021/1/12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10E92-DAAC-4D50-A945-FFE31EEA664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2824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A4952-F44A-468F-B06B-02EDF1F19E05}" type="datetimeFigureOut">
              <a:rPr lang="zh-TW" altLang="en-US" smtClean="0"/>
              <a:t>2021/1/12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10E92-DAAC-4D50-A945-FFE31EEA664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1445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A4952-F44A-468F-B06B-02EDF1F19E05}" type="datetimeFigureOut">
              <a:rPr lang="zh-TW" altLang="en-US" smtClean="0"/>
              <a:t>2021/1/12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10E92-DAAC-4D50-A945-FFE31EEA664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5620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A4952-F44A-468F-B06B-02EDF1F19E05}" type="datetimeFigureOut">
              <a:rPr lang="zh-TW" altLang="en-US" smtClean="0"/>
              <a:t>2021/1/12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10E92-DAAC-4D50-A945-FFE31EEA664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4192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A4952-F44A-468F-B06B-02EDF1F19E05}" type="datetimeFigureOut">
              <a:rPr lang="zh-TW" altLang="en-US" smtClean="0"/>
              <a:t>2021/1/12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10E92-DAAC-4D50-A945-FFE31EEA664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5892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A4952-F44A-468F-B06B-02EDF1F19E05}" type="datetimeFigureOut">
              <a:rPr lang="zh-TW" altLang="en-US" smtClean="0"/>
              <a:t>2021/1/12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10E92-DAAC-4D50-A945-FFE31EEA664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94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8294908-8B00-4F58-BBBA-20F71A40A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eeform: Shape 9">
            <a:extLst>
              <a:ext uri="{FF2B5EF4-FFF2-40B4-BE49-F238E27FC236}">
                <a16:creationId xmlns:a16="http://schemas.microsoft.com/office/drawing/2014/main" id="{4364C879-1404-4203-8E9D-CC5DE0A6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2782" y="-1386168"/>
            <a:ext cx="2424873" cy="3611191"/>
          </a:xfrm>
          <a:custGeom>
            <a:avLst/>
            <a:gdLst>
              <a:gd name="connsiteX0" fmla="*/ 0 w 2424873"/>
              <a:gd name="connsiteY0" fmla="*/ 2424874 h 3611191"/>
              <a:gd name="connsiteX1" fmla="*/ 2424873 w 2424873"/>
              <a:gd name="connsiteY1" fmla="*/ 0 h 3611191"/>
              <a:gd name="connsiteX2" fmla="*/ 2424873 w 2424873"/>
              <a:gd name="connsiteY2" fmla="*/ 3611191 h 3611191"/>
              <a:gd name="connsiteX3" fmla="*/ 1186317 w 2424873"/>
              <a:gd name="connsiteY3" fmla="*/ 3611191 h 361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4873" h="3611191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Freeform: Shape 11">
            <a:extLst>
              <a:ext uri="{FF2B5EF4-FFF2-40B4-BE49-F238E27FC236}">
                <a16:creationId xmlns:a16="http://schemas.microsoft.com/office/drawing/2014/main" id="{84617302-4B0D-4351-A6BB-6F0930D9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571000" y="-338582"/>
            <a:ext cx="1635955" cy="1635955"/>
          </a:xfrm>
          <a:custGeom>
            <a:avLst/>
            <a:gdLst>
              <a:gd name="connsiteX0" fmla="*/ 0 w 1635955"/>
              <a:gd name="connsiteY0" fmla="*/ 957987 h 1635955"/>
              <a:gd name="connsiteX1" fmla="*/ 957987 w 1635955"/>
              <a:gd name="connsiteY1" fmla="*/ 0 h 1635955"/>
              <a:gd name="connsiteX2" fmla="*/ 1635955 w 1635955"/>
              <a:gd name="connsiteY2" fmla="*/ 0 h 1635955"/>
              <a:gd name="connsiteX3" fmla="*/ 1635955 w 1635955"/>
              <a:gd name="connsiteY3" fmla="*/ 1635955 h 1635955"/>
              <a:gd name="connsiteX4" fmla="*/ 0 w 1635955"/>
              <a:gd name="connsiteY4" fmla="*/ 1635955 h 163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955" h="1635955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13">
            <a:extLst>
              <a:ext uri="{FF2B5EF4-FFF2-40B4-BE49-F238E27FC236}">
                <a16:creationId xmlns:a16="http://schemas.microsoft.com/office/drawing/2014/main" id="{DA2C7802-C2E0-4218-8F89-8DD7CCD2C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7985" y="-6588"/>
            <a:ext cx="4059393" cy="2548110"/>
          </a:xfrm>
          <a:custGeom>
            <a:avLst/>
            <a:gdLst>
              <a:gd name="connsiteX0" fmla="*/ 0 w 4059393"/>
              <a:gd name="connsiteY0" fmla="*/ 1511282 h 2548110"/>
              <a:gd name="connsiteX1" fmla="*/ 1511282 w 4059393"/>
              <a:gd name="connsiteY1" fmla="*/ 0 h 2548110"/>
              <a:gd name="connsiteX2" fmla="*/ 4059393 w 4059393"/>
              <a:gd name="connsiteY2" fmla="*/ 2548110 h 2548110"/>
              <a:gd name="connsiteX3" fmla="*/ 0 w 4059393"/>
              <a:gd name="connsiteY3" fmla="*/ 2548110 h 25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9393" h="2548110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A6D7111A-21E5-4EE9-8A78-10E5530F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62924" y="1465780"/>
            <a:ext cx="1185708" cy="11857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A3969E80-A77B-49FC-9122-D89AFD5EE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29557" y="5198743"/>
            <a:ext cx="2444907" cy="2366116"/>
          </a:xfrm>
          <a:custGeom>
            <a:avLst/>
            <a:gdLst>
              <a:gd name="connsiteX0" fmla="*/ 0 w 2203753"/>
              <a:gd name="connsiteY0" fmla="*/ 0 h 2132734"/>
              <a:gd name="connsiteX1" fmla="*/ 2203753 w 2203753"/>
              <a:gd name="connsiteY1" fmla="*/ 0 h 2132734"/>
              <a:gd name="connsiteX2" fmla="*/ 2203753 w 2203753"/>
              <a:gd name="connsiteY2" fmla="*/ 576461 h 2132734"/>
              <a:gd name="connsiteX3" fmla="*/ 647480 w 2203753"/>
              <a:gd name="connsiteY3" fmla="*/ 2132734 h 2132734"/>
              <a:gd name="connsiteX4" fmla="*/ 0 w 2203753"/>
              <a:gd name="connsiteY4" fmla="*/ 1485255 h 213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3753" h="2132734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Rectangle 19">
            <a:extLst>
              <a:ext uri="{FF2B5EF4-FFF2-40B4-BE49-F238E27FC236}">
                <a16:creationId xmlns:a16="http://schemas.microsoft.com/office/drawing/2014/main" id="{1849CA57-76BD-4CF2-80BA-D7A46A01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769787" y="5439893"/>
            <a:ext cx="928467" cy="92846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Freeform: Shape 21">
            <a:extLst>
              <a:ext uri="{FF2B5EF4-FFF2-40B4-BE49-F238E27FC236}">
                <a16:creationId xmlns:a16="http://schemas.microsoft.com/office/drawing/2014/main" id="{35E9085E-E730-4768-83D4-6CB7E9897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Freeform: Shape 23">
            <a:extLst>
              <a:ext uri="{FF2B5EF4-FFF2-40B4-BE49-F238E27FC236}">
                <a16:creationId xmlns:a16="http://schemas.microsoft.com/office/drawing/2014/main" id="{973272FE-A474-4CAE-8CA2-BCC8B476C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AB98383-A25A-4CF8-A177-AFB1BE8177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39633" y="4214051"/>
            <a:ext cx="3401906" cy="1027871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altLang="zh-TW" sz="2000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00857008</a:t>
            </a:r>
            <a:r>
              <a:rPr lang="zh-TW" altLang="en-US" sz="2000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謝宜歡</a:t>
            </a:r>
            <a:endParaRPr lang="en-US" altLang="zh-TW" sz="2000" dirty="0">
              <a:solidFill>
                <a:schemeClr val="accent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000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00857025</a:t>
            </a:r>
            <a:r>
              <a:rPr lang="zh-TW" altLang="en-US" sz="2000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姜吳亭</a:t>
            </a:r>
          </a:p>
          <a:p>
            <a:endParaRPr lang="zh-TW" altLang="en-US" sz="2000" dirty="0">
              <a:solidFill>
                <a:srgbClr val="080808"/>
              </a:solidFill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369E880-0D1F-4919-A58F-A30B8233D0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2672" y="1372005"/>
            <a:ext cx="5267993" cy="2056995"/>
          </a:xfrm>
          <a:noFill/>
        </p:spPr>
        <p:txBody>
          <a:bodyPr anchor="ctr">
            <a:normAutofit/>
          </a:bodyPr>
          <a:lstStyle/>
          <a:p>
            <a:r>
              <a:rPr lang="zh-TW" altLang="en-US" sz="4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網頁程式期末專案</a:t>
            </a:r>
          </a:p>
        </p:txBody>
      </p:sp>
      <p:sp>
        <p:nvSpPr>
          <p:cNvPr id="21" name="Freeform: Shape 25">
            <a:extLst>
              <a:ext uri="{FF2B5EF4-FFF2-40B4-BE49-F238E27FC236}">
                <a16:creationId xmlns:a16="http://schemas.microsoft.com/office/drawing/2014/main" id="{E07981EA-05A6-437C-88D7-B377B92B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9823" y="5457591"/>
            <a:ext cx="2231794" cy="2568811"/>
          </a:xfrm>
          <a:custGeom>
            <a:avLst/>
            <a:gdLst>
              <a:gd name="connsiteX0" fmla="*/ 0 w 2940086"/>
              <a:gd name="connsiteY0" fmla="*/ 0 h 3384061"/>
              <a:gd name="connsiteX1" fmla="*/ 2496112 w 2940086"/>
              <a:gd name="connsiteY1" fmla="*/ 0 h 3384061"/>
              <a:gd name="connsiteX2" fmla="*/ 2940086 w 2940086"/>
              <a:gd name="connsiteY2" fmla="*/ 443975 h 3384061"/>
              <a:gd name="connsiteX3" fmla="*/ 0 w 2940086"/>
              <a:gd name="connsiteY3" fmla="*/ 3384061 h 33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0086" h="3384061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Rectangle 27">
            <a:extLst>
              <a:ext uri="{FF2B5EF4-FFF2-40B4-BE49-F238E27FC236}">
                <a16:creationId xmlns:a16="http://schemas.microsoft.com/office/drawing/2014/main" id="{15E3C750-986E-4769-B1AE-49289FBE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720059" y="5243545"/>
            <a:ext cx="959985" cy="9599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F632D62-5CBA-4747-BDB8-F32D6E60A4A7}"/>
              </a:ext>
            </a:extLst>
          </p:cNvPr>
          <p:cNvSpPr txBox="1"/>
          <p:nvPr/>
        </p:nvSpPr>
        <p:spPr>
          <a:xfrm>
            <a:off x="4846438" y="2880947"/>
            <a:ext cx="2499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b="1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小小煉金師</a:t>
            </a:r>
          </a:p>
        </p:txBody>
      </p:sp>
    </p:spTree>
    <p:extLst>
      <p:ext uri="{BB962C8B-B14F-4D97-AF65-F5344CB8AC3E}">
        <p14:creationId xmlns:p14="http://schemas.microsoft.com/office/powerpoint/2010/main" val="2540458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6312ABB-F9C4-4B4A-891C-29793B45D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z="3600" b="1" dirty="0">
                <a:solidFill>
                  <a:schemeClr val="accent1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網站</a:t>
            </a:r>
            <a:r>
              <a:rPr lang="zh-TW" altLang="en-US" sz="3600" b="1" kern="1200" dirty="0">
                <a:solidFill>
                  <a:schemeClr val="accent1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主題</a:t>
            </a:r>
            <a:endParaRPr lang="en-US" altLang="zh-TW" sz="3600" b="1" kern="1200" dirty="0">
              <a:solidFill>
                <a:schemeClr val="tx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0C468F7-A3F2-4E2C-9B79-8F7BAB767A98}"/>
              </a:ext>
            </a:extLst>
          </p:cNvPr>
          <p:cNvSpPr txBox="1"/>
          <p:nvPr/>
        </p:nvSpPr>
        <p:spPr>
          <a:xfrm>
            <a:off x="643467" y="1782981"/>
            <a:ext cx="10905066" cy="4393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altLang="zh-TW" sz="14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CFD881A2-68EA-47F0-909E-141D4622F456}"/>
              </a:ext>
            </a:extLst>
          </p:cNvPr>
          <p:cNvSpPr txBox="1"/>
          <p:nvPr/>
        </p:nvSpPr>
        <p:spPr>
          <a:xfrm>
            <a:off x="682744" y="1305768"/>
            <a:ext cx="6430703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在高中時期學習化學，遇到的大魔王就是記誦沉澱表，於是就想藉由遊戲來了解並幫助記憶。讓大家都可以成為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「</a:t>
            </a:r>
            <a:r>
              <a:rPr lang="zh-TW" altLang="en-US" sz="3600" b="1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小小煉金師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」</a:t>
            </a:r>
            <a:endParaRPr lang="en-US" altLang="zh-TW" sz="3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/>
          </a:p>
        </p:txBody>
      </p:sp>
      <p:pic>
        <p:nvPicPr>
          <p:cNvPr id="53" name="圖片 52">
            <a:extLst>
              <a:ext uri="{FF2B5EF4-FFF2-40B4-BE49-F238E27FC236}">
                <a16:creationId xmlns:a16="http://schemas.microsoft.com/office/drawing/2014/main" id="{4D5B0009-AD6C-4C8D-ACD7-204F0F336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0134" y="3992023"/>
            <a:ext cx="3618399" cy="2369137"/>
          </a:xfrm>
          <a:prstGeom prst="rect">
            <a:avLst/>
          </a:prstGeom>
        </p:spPr>
      </p:pic>
      <p:pic>
        <p:nvPicPr>
          <p:cNvPr id="57" name="圖片 56" descr="一張含有 畫畫 的圖片&#10;&#10;自動產生的描述">
            <a:extLst>
              <a:ext uri="{FF2B5EF4-FFF2-40B4-BE49-F238E27FC236}">
                <a16:creationId xmlns:a16="http://schemas.microsoft.com/office/drawing/2014/main" id="{A4AF67DA-EC6B-482B-9BB4-B32ECB3C7B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9388" y="111495"/>
            <a:ext cx="1685925" cy="1238250"/>
          </a:xfrm>
          <a:prstGeom prst="rect">
            <a:avLst/>
          </a:prstGeom>
        </p:spPr>
      </p:pic>
      <p:pic>
        <p:nvPicPr>
          <p:cNvPr id="59" name="圖片 58">
            <a:extLst>
              <a:ext uri="{FF2B5EF4-FFF2-40B4-BE49-F238E27FC236}">
                <a16:creationId xmlns:a16="http://schemas.microsoft.com/office/drawing/2014/main" id="{9DA7890B-62A9-46AF-AC10-301442F473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760" y="3992023"/>
            <a:ext cx="3958947" cy="3958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689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6312ABB-F9C4-4B4A-891C-29793B45D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z="3600" b="1" kern="1200" dirty="0">
                <a:solidFill>
                  <a:schemeClr val="accent1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abic Typesetting" panose="03020402040406030203" pitchFamily="66" charset="-78"/>
              </a:rPr>
              <a:t>頁面配置</a:t>
            </a:r>
            <a:r>
              <a:rPr lang="en-US" altLang="zh-TW" sz="3600" b="1" kern="1200" dirty="0">
                <a:solidFill>
                  <a:schemeClr val="accent1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abic Typesetting" panose="03020402040406030203" pitchFamily="66" charset="-78"/>
              </a:rPr>
              <a:t>: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0C468F7-A3F2-4E2C-9B79-8F7BAB767A98}"/>
              </a:ext>
            </a:extLst>
          </p:cNvPr>
          <p:cNvSpPr txBox="1"/>
          <p:nvPr/>
        </p:nvSpPr>
        <p:spPr>
          <a:xfrm>
            <a:off x="833006" y="1664986"/>
            <a:ext cx="10905066" cy="4393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altLang="zh-TW" sz="14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6243B67F-AE1F-4AE5-BADC-CAB3EAAA5187}"/>
              </a:ext>
            </a:extLst>
          </p:cNvPr>
          <p:cNvSpPr/>
          <p:nvPr/>
        </p:nvSpPr>
        <p:spPr>
          <a:xfrm>
            <a:off x="5112842" y="106600"/>
            <a:ext cx="1460472" cy="121305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網站首頁</a:t>
            </a:r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61AF9FFD-7E4A-4B4D-AED6-10AF08777FBF}"/>
              </a:ext>
            </a:extLst>
          </p:cNvPr>
          <p:cNvGrpSpPr/>
          <p:nvPr/>
        </p:nvGrpSpPr>
        <p:grpSpPr>
          <a:xfrm>
            <a:off x="6666746" y="2139371"/>
            <a:ext cx="1460472" cy="2719662"/>
            <a:chOff x="5319616" y="1926919"/>
            <a:chExt cx="1460472" cy="2719662"/>
          </a:xfrm>
        </p:grpSpPr>
        <p:sp>
          <p:nvSpPr>
            <p:cNvPr id="10" name="矩形: 圓角 9">
              <a:extLst>
                <a:ext uri="{FF2B5EF4-FFF2-40B4-BE49-F238E27FC236}">
                  <a16:creationId xmlns:a16="http://schemas.microsoft.com/office/drawing/2014/main" id="{9F165909-40D4-4A5B-A36F-C3EA86826B49}"/>
                </a:ext>
              </a:extLst>
            </p:cNvPr>
            <p:cNvSpPr/>
            <p:nvPr/>
          </p:nvSpPr>
          <p:spPr>
            <a:xfrm>
              <a:off x="5319616" y="1926919"/>
              <a:ext cx="1460472" cy="1013465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b="1" dirty="0">
                  <a:solidFill>
                    <a:schemeClr val="accent1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遊戲畫面</a:t>
              </a:r>
            </a:p>
          </p:txBody>
        </p:sp>
        <p:sp>
          <p:nvSpPr>
            <p:cNvPr id="13" name="矩形: 圓角 12">
              <a:extLst>
                <a:ext uri="{FF2B5EF4-FFF2-40B4-BE49-F238E27FC236}">
                  <a16:creationId xmlns:a16="http://schemas.microsoft.com/office/drawing/2014/main" id="{E10B1737-2734-44B3-9D83-07D732058F1B}"/>
                </a:ext>
              </a:extLst>
            </p:cNvPr>
            <p:cNvSpPr/>
            <p:nvPr/>
          </p:nvSpPr>
          <p:spPr>
            <a:xfrm>
              <a:off x="5422248" y="3414769"/>
              <a:ext cx="1273404" cy="1231812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>
                  <a:solidFill>
                    <a:schemeClr val="accent2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遊玩區塊</a:t>
              </a:r>
            </a:p>
          </p:txBody>
        </p:sp>
      </p:grp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1076ACC9-3C2C-4DBB-A1F6-86CD03D39AF7}"/>
              </a:ext>
            </a:extLst>
          </p:cNvPr>
          <p:cNvSpPr/>
          <p:nvPr/>
        </p:nvSpPr>
        <p:spPr>
          <a:xfrm>
            <a:off x="3906154" y="2088985"/>
            <a:ext cx="1418428" cy="101346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accent1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說明文件</a:t>
            </a:r>
          </a:p>
        </p:txBody>
      </p: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7C0660A0-176E-434E-BC26-360E539A754B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4615368" y="1847612"/>
            <a:ext cx="0" cy="241373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C35053FE-A7C2-48CD-AFC6-29DEFC315978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5843078" y="1319653"/>
            <a:ext cx="0" cy="544568"/>
          </a:xfrm>
          <a:prstGeom prst="line">
            <a:avLst/>
          </a:prstGeom>
          <a:ln w="5715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D0BFA3E9-14F2-464A-B378-20F94C7D7042}"/>
              </a:ext>
            </a:extLst>
          </p:cNvPr>
          <p:cNvCxnSpPr>
            <a:cxnSpLocks/>
          </p:cNvCxnSpPr>
          <p:nvPr/>
        </p:nvCxnSpPr>
        <p:spPr>
          <a:xfrm>
            <a:off x="4610082" y="1864221"/>
            <a:ext cx="1232996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D4BC6723-2D64-4C3C-80A8-402A5B338314}"/>
              </a:ext>
            </a:extLst>
          </p:cNvPr>
          <p:cNvCxnSpPr/>
          <p:nvPr/>
        </p:nvCxnSpPr>
        <p:spPr>
          <a:xfrm>
            <a:off x="5769100" y="1864221"/>
            <a:ext cx="1608428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C51978D8-04EE-482B-8CB5-306354C65A68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7396982" y="1847612"/>
            <a:ext cx="0" cy="291759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接點 74">
            <a:extLst>
              <a:ext uri="{FF2B5EF4-FFF2-40B4-BE49-F238E27FC236}">
                <a16:creationId xmlns:a16="http://schemas.microsoft.com/office/drawing/2014/main" id="{F4482AD2-8E3E-4578-8F32-95FB3C923FDA}"/>
              </a:ext>
            </a:extLst>
          </p:cNvPr>
          <p:cNvCxnSpPr>
            <a:cxnSpLocks/>
            <a:stCxn id="13" idx="2"/>
            <a:endCxn id="76" idx="0"/>
          </p:cNvCxnSpPr>
          <p:nvPr/>
        </p:nvCxnSpPr>
        <p:spPr>
          <a:xfrm>
            <a:off x="7406080" y="4859033"/>
            <a:ext cx="0" cy="238497"/>
          </a:xfrm>
          <a:prstGeom prst="line">
            <a:avLst/>
          </a:prstGeom>
          <a:ln w="381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6" name="矩形: 圓角 75">
            <a:extLst>
              <a:ext uri="{FF2B5EF4-FFF2-40B4-BE49-F238E27FC236}">
                <a16:creationId xmlns:a16="http://schemas.microsoft.com/office/drawing/2014/main" id="{B1572170-3E7D-4B1B-804F-CE1C1BC51A07}"/>
              </a:ext>
            </a:extLst>
          </p:cNvPr>
          <p:cNvSpPr/>
          <p:nvPr/>
        </p:nvSpPr>
        <p:spPr>
          <a:xfrm>
            <a:off x="6769378" y="5097530"/>
            <a:ext cx="1273404" cy="81023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化合物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特性</a:t>
            </a:r>
          </a:p>
        </p:txBody>
      </p: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6975BFBA-E72C-4538-85FF-3187B18E21FD}"/>
              </a:ext>
            </a:extLst>
          </p:cNvPr>
          <p:cNvCxnSpPr>
            <a:cxnSpLocks/>
            <a:stCxn id="10" idx="2"/>
            <a:endCxn id="13" idx="0"/>
          </p:cNvCxnSpPr>
          <p:nvPr/>
        </p:nvCxnSpPr>
        <p:spPr>
          <a:xfrm>
            <a:off x="7396982" y="3152836"/>
            <a:ext cx="9098" cy="474385"/>
          </a:xfrm>
          <a:prstGeom prst="line">
            <a:avLst/>
          </a:prstGeom>
          <a:ln w="381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7346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6312ABB-F9C4-4B4A-891C-29793B45D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868" y="282203"/>
            <a:ext cx="5136412" cy="113573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z="360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應用技術</a:t>
            </a:r>
            <a:r>
              <a:rPr lang="en-US" altLang="zh-TW" sz="360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7EAA094-9CF6-4695-958A-33D9BCAA9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" y="713128"/>
            <a:ext cx="1068867" cy="2126625"/>
            <a:chOff x="10918968" y="713127"/>
            <a:chExt cx="1273032" cy="2532832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E80C965-DB6D-4F81-9E9E-B027384D0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Isosceles Triangle 60">
              <a:extLst>
                <a:ext uri="{FF2B5EF4-FFF2-40B4-BE49-F238E27FC236}">
                  <a16:creationId xmlns:a16="http://schemas.microsoft.com/office/drawing/2014/main" id="{A580F890-B085-4E95-96AA-55AEBEC5CE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3" name="Isosceles Triangle 62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067618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27850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0C468F7-A3F2-4E2C-9B79-8F7BAB767A98}"/>
              </a:ext>
            </a:extLst>
          </p:cNvPr>
          <p:cNvSpPr txBox="1"/>
          <p:nvPr/>
        </p:nvSpPr>
        <p:spPr>
          <a:xfrm>
            <a:off x="643467" y="1782981"/>
            <a:ext cx="4986368" cy="24214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zh-TW" altLang="en-US" sz="1400" dirty="0"/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3F72D2B6-9EE5-41BC-84AD-483320FB850A}"/>
              </a:ext>
            </a:extLst>
          </p:cNvPr>
          <p:cNvSpPr/>
          <p:nvPr/>
        </p:nvSpPr>
        <p:spPr>
          <a:xfrm>
            <a:off x="6166337" y="2621388"/>
            <a:ext cx="2014513" cy="257456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kern="1200" dirty="0">
                <a:solidFill>
                  <a:schemeClr val="accent1">
                    <a:lumMod val="50000"/>
                  </a:schemeClr>
                </a:solidFill>
              </a:rPr>
              <a:t>jQuery</a:t>
            </a:r>
            <a:endParaRPr lang="zh-TW" altLang="en-US" sz="2400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zh-TW" altLang="en-US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93FAD35C-3696-4526-AA53-0E9CE1A72913}"/>
              </a:ext>
            </a:extLst>
          </p:cNvPr>
          <p:cNvSpPr/>
          <p:nvPr/>
        </p:nvSpPr>
        <p:spPr>
          <a:xfrm>
            <a:off x="6219091" y="1672560"/>
            <a:ext cx="1891422" cy="98260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chemeClr val="accent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進階技術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E99F1881-8483-4018-AFF0-7168FE99CEA8}"/>
              </a:ext>
            </a:extLst>
          </p:cNvPr>
          <p:cNvSpPr/>
          <p:nvPr/>
        </p:nvSpPr>
        <p:spPr>
          <a:xfrm>
            <a:off x="4143032" y="2621388"/>
            <a:ext cx="2014513" cy="257456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HTML5</a:t>
            </a:r>
          </a:p>
          <a:p>
            <a:pPr algn="ctr"/>
            <a:r>
              <a:rPr lang="en-US" altLang="zh-TW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</a:p>
          <a:p>
            <a:pPr algn="ctr"/>
            <a:r>
              <a:rPr lang="en-US" altLang="zh-TW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 script</a:t>
            </a:r>
            <a:endParaRPr lang="zh-TW" altLang="en-US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841686FF-52B4-4F07-BADA-958055879A2C}"/>
              </a:ext>
            </a:extLst>
          </p:cNvPr>
          <p:cNvSpPr/>
          <p:nvPr/>
        </p:nvSpPr>
        <p:spPr>
          <a:xfrm>
            <a:off x="4204578" y="1672560"/>
            <a:ext cx="1891422" cy="98260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chemeClr val="accent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基礎技術</a:t>
            </a:r>
          </a:p>
        </p:txBody>
      </p:sp>
    </p:spTree>
    <p:extLst>
      <p:ext uri="{BB962C8B-B14F-4D97-AF65-F5344CB8AC3E}">
        <p14:creationId xmlns:p14="http://schemas.microsoft.com/office/powerpoint/2010/main" val="1658452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6312ABB-F9C4-4B4A-891C-29793B45D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z="3600" b="1" kern="1200" dirty="0">
                <a:solidFill>
                  <a:schemeClr val="accent1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特色</a:t>
            </a:r>
            <a:r>
              <a:rPr lang="en-US" altLang="zh-TW" sz="3600" b="1" kern="1200" dirty="0">
                <a:solidFill>
                  <a:schemeClr val="accent1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0C468F7-A3F2-4E2C-9B79-8F7BAB767A98}"/>
              </a:ext>
            </a:extLst>
          </p:cNvPr>
          <p:cNvSpPr txBox="1"/>
          <p:nvPr/>
        </p:nvSpPr>
        <p:spPr>
          <a:xfrm>
            <a:off x="643467" y="1782981"/>
            <a:ext cx="10905066" cy="4393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altLang="zh-TW" sz="14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TW" sz="14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ED6C521-CF23-419C-BBAF-FA3730BA90A4}"/>
              </a:ext>
            </a:extLst>
          </p:cNvPr>
          <p:cNvSpPr txBox="1"/>
          <p:nvPr/>
        </p:nvSpPr>
        <p:spPr>
          <a:xfrm>
            <a:off x="3007264" y="2427941"/>
            <a:ext cx="4629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頁面淺顯易懂</a:t>
            </a:r>
            <a:endParaRPr lang="en-US" altLang="zh-TW" sz="2800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箭號: 向右 6">
            <a:extLst>
              <a:ext uri="{FF2B5EF4-FFF2-40B4-BE49-F238E27FC236}">
                <a16:creationId xmlns:a16="http://schemas.microsoft.com/office/drawing/2014/main" id="{3C989C9D-3408-4F05-B7D7-FB3158A0A968}"/>
              </a:ext>
            </a:extLst>
          </p:cNvPr>
          <p:cNvSpPr/>
          <p:nvPr/>
        </p:nvSpPr>
        <p:spPr>
          <a:xfrm>
            <a:off x="2388315" y="2510049"/>
            <a:ext cx="618949" cy="309213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4820AACE-939A-49CF-93E2-808CE1B3C05C}"/>
              </a:ext>
            </a:extLst>
          </p:cNvPr>
          <p:cNvSpPr txBox="1"/>
          <p:nvPr/>
        </p:nvSpPr>
        <p:spPr>
          <a:xfrm>
            <a:off x="3048000" y="3115313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富含學習知識</a:t>
            </a:r>
          </a:p>
        </p:txBody>
      </p:sp>
      <p:sp>
        <p:nvSpPr>
          <p:cNvPr id="28" name="箭號: 向右 27">
            <a:extLst>
              <a:ext uri="{FF2B5EF4-FFF2-40B4-BE49-F238E27FC236}">
                <a16:creationId xmlns:a16="http://schemas.microsoft.com/office/drawing/2014/main" id="{4F720788-975C-4A04-B6B0-73DA56E7731D}"/>
              </a:ext>
            </a:extLst>
          </p:cNvPr>
          <p:cNvSpPr/>
          <p:nvPr/>
        </p:nvSpPr>
        <p:spPr>
          <a:xfrm>
            <a:off x="2388315" y="3192257"/>
            <a:ext cx="659685" cy="369332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0" name="箭號: 向右 29">
            <a:extLst>
              <a:ext uri="{FF2B5EF4-FFF2-40B4-BE49-F238E27FC236}">
                <a16:creationId xmlns:a16="http://schemas.microsoft.com/office/drawing/2014/main" id="{DFD6DE2C-376E-43EC-9573-E5C252B23D4B}"/>
              </a:ext>
            </a:extLst>
          </p:cNvPr>
          <p:cNvSpPr/>
          <p:nvPr/>
        </p:nvSpPr>
        <p:spPr>
          <a:xfrm>
            <a:off x="2411412" y="3949635"/>
            <a:ext cx="618949" cy="309213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B7B44D5-E823-4FC7-B718-2B8F118868C4}"/>
              </a:ext>
            </a:extLst>
          </p:cNvPr>
          <p:cNvSpPr txBox="1"/>
          <p:nvPr/>
        </p:nvSpPr>
        <p:spPr>
          <a:xfrm>
            <a:off x="3048000" y="3811745"/>
            <a:ext cx="23846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輔助學習</a:t>
            </a:r>
          </a:p>
        </p:txBody>
      </p:sp>
    </p:spTree>
    <p:extLst>
      <p:ext uri="{BB962C8B-B14F-4D97-AF65-F5344CB8AC3E}">
        <p14:creationId xmlns:p14="http://schemas.microsoft.com/office/powerpoint/2010/main" val="1558336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0C468F7-A3F2-4E2C-9B79-8F7BAB767A98}"/>
              </a:ext>
            </a:extLst>
          </p:cNvPr>
          <p:cNvSpPr txBox="1"/>
          <p:nvPr/>
        </p:nvSpPr>
        <p:spPr>
          <a:xfrm>
            <a:off x="643467" y="1782981"/>
            <a:ext cx="10905066" cy="4393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altLang="zh-TW" sz="14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TW" sz="14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標題 5">
            <a:extLst>
              <a:ext uri="{FF2B5EF4-FFF2-40B4-BE49-F238E27FC236}">
                <a16:creationId xmlns:a16="http://schemas.microsoft.com/office/drawing/2014/main" id="{AC7295EA-B5BB-4841-B1E5-DBFB58DB4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60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使用說明</a:t>
            </a:r>
            <a:r>
              <a:rPr lang="en-US" altLang="zh-TW" sz="360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endParaRPr lang="zh-TW" altLang="en-US" sz="360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64579A35-8B96-4107-954F-2A0629AE3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6353" y="1690688"/>
            <a:ext cx="9462615" cy="4626500"/>
          </a:xfrm>
          <a:prstGeom prst="rect">
            <a:avLst/>
          </a:prstGeom>
        </p:spPr>
      </p:pic>
      <p:sp>
        <p:nvSpPr>
          <p:cNvPr id="12" name="橢圓 11">
            <a:extLst>
              <a:ext uri="{FF2B5EF4-FFF2-40B4-BE49-F238E27FC236}">
                <a16:creationId xmlns:a16="http://schemas.microsoft.com/office/drawing/2014/main" id="{F3B5E0B2-6154-46E5-BDBF-039ED19E4ED8}"/>
              </a:ext>
            </a:extLst>
          </p:cNvPr>
          <p:cNvSpPr/>
          <p:nvPr/>
        </p:nvSpPr>
        <p:spPr>
          <a:xfrm>
            <a:off x="2431882" y="1627752"/>
            <a:ext cx="1371600" cy="11049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" name="接點: 弧形 19">
            <a:extLst>
              <a:ext uri="{FF2B5EF4-FFF2-40B4-BE49-F238E27FC236}">
                <a16:creationId xmlns:a16="http://schemas.microsoft.com/office/drawing/2014/main" id="{40C805B4-8346-4199-81EE-80F18A744FE3}"/>
              </a:ext>
            </a:extLst>
          </p:cNvPr>
          <p:cNvCxnSpPr/>
          <p:nvPr/>
        </p:nvCxnSpPr>
        <p:spPr>
          <a:xfrm>
            <a:off x="3747247" y="1979543"/>
            <a:ext cx="1694329" cy="1266416"/>
          </a:xfrm>
          <a:prstGeom prst="curved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橢圓 20">
            <a:extLst>
              <a:ext uri="{FF2B5EF4-FFF2-40B4-BE49-F238E27FC236}">
                <a16:creationId xmlns:a16="http://schemas.microsoft.com/office/drawing/2014/main" id="{02A50A6A-149A-45D7-8247-A817823B8A77}"/>
              </a:ext>
            </a:extLst>
          </p:cNvPr>
          <p:cNvSpPr/>
          <p:nvPr/>
        </p:nvSpPr>
        <p:spPr>
          <a:xfrm>
            <a:off x="8640422" y="1522139"/>
            <a:ext cx="1371600" cy="11049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3" name="接點: 弧形 22">
            <a:extLst>
              <a:ext uri="{FF2B5EF4-FFF2-40B4-BE49-F238E27FC236}">
                <a16:creationId xmlns:a16="http://schemas.microsoft.com/office/drawing/2014/main" id="{B038FBAB-2BDB-4362-A69C-F720C91230B9}"/>
              </a:ext>
            </a:extLst>
          </p:cNvPr>
          <p:cNvCxnSpPr>
            <a:stCxn id="21" idx="2"/>
          </p:cNvCxnSpPr>
          <p:nvPr/>
        </p:nvCxnSpPr>
        <p:spPr>
          <a:xfrm rot="10800000" flipV="1">
            <a:off x="7117976" y="2074589"/>
            <a:ext cx="1522446" cy="1089952"/>
          </a:xfrm>
          <a:prstGeom prst="curved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箭號: 向下 23">
            <a:extLst>
              <a:ext uri="{FF2B5EF4-FFF2-40B4-BE49-F238E27FC236}">
                <a16:creationId xmlns:a16="http://schemas.microsoft.com/office/drawing/2014/main" id="{1EE08F88-6B17-4E74-8A24-38CA380D8E66}"/>
              </a:ext>
            </a:extLst>
          </p:cNvPr>
          <p:cNvSpPr/>
          <p:nvPr/>
        </p:nvSpPr>
        <p:spPr>
          <a:xfrm rot="10800000" flipH="1">
            <a:off x="6096000" y="5769651"/>
            <a:ext cx="482081" cy="403692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1064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1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312ABB-F9C4-4B4A-891C-29793B45D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z="3600" b="1" dirty="0">
                <a:solidFill>
                  <a:schemeClr val="accent1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結</a:t>
            </a:r>
            <a:r>
              <a:rPr lang="zh-TW" altLang="en-US" sz="3600" b="1" kern="1200" dirty="0">
                <a:solidFill>
                  <a:schemeClr val="accent1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果展示</a:t>
            </a:r>
            <a:r>
              <a:rPr lang="en-US" altLang="zh-TW" sz="3600" b="1" kern="1200" dirty="0">
                <a:solidFill>
                  <a:schemeClr val="accent1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0C468F7-A3F2-4E2C-9B79-8F7BAB767A98}"/>
              </a:ext>
            </a:extLst>
          </p:cNvPr>
          <p:cNvSpPr txBox="1"/>
          <p:nvPr/>
        </p:nvSpPr>
        <p:spPr>
          <a:xfrm>
            <a:off x="342694" y="1761777"/>
            <a:ext cx="10905066" cy="4393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altLang="zh-TW" sz="14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TW" sz="1400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30EEC362-4C6B-486A-9EA2-8BC90B97D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393" y="1133224"/>
            <a:ext cx="4762913" cy="5326842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9FC58D6B-BE7C-4CC5-803C-5A3FBE6C45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240" y="1924050"/>
            <a:ext cx="5537122" cy="3579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181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6312ABB-F9C4-4B4A-891C-29793B45D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z="3600" b="1" kern="1200" dirty="0">
                <a:solidFill>
                  <a:schemeClr val="accent1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分工表</a:t>
            </a:r>
            <a:r>
              <a:rPr lang="en-US" altLang="zh-TW" sz="3600" b="1" kern="1200" dirty="0">
                <a:solidFill>
                  <a:schemeClr val="accent1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0C468F7-A3F2-4E2C-9B79-8F7BAB767A98}"/>
              </a:ext>
            </a:extLst>
          </p:cNvPr>
          <p:cNvSpPr txBox="1"/>
          <p:nvPr/>
        </p:nvSpPr>
        <p:spPr>
          <a:xfrm>
            <a:off x="643467" y="1782981"/>
            <a:ext cx="10905066" cy="4393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altLang="zh-TW" sz="14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TW" sz="14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155CFDDC-E209-49A1-BFE1-5B71068485CD}"/>
              </a:ext>
            </a:extLst>
          </p:cNvPr>
          <p:cNvSpPr/>
          <p:nvPr/>
        </p:nvSpPr>
        <p:spPr>
          <a:xfrm>
            <a:off x="3590365" y="1530018"/>
            <a:ext cx="2218765" cy="91269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姜吳亭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081560F4-C342-4F2D-A9D0-52204D2EAA01}"/>
              </a:ext>
            </a:extLst>
          </p:cNvPr>
          <p:cNvSpPr/>
          <p:nvPr/>
        </p:nvSpPr>
        <p:spPr>
          <a:xfrm>
            <a:off x="6318033" y="1530018"/>
            <a:ext cx="2218765" cy="91269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accent4">
                    <a:lumMod val="5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謝宜歡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46C12ED9-9EA7-4EA6-9A1F-B195127ECF03}"/>
              </a:ext>
            </a:extLst>
          </p:cNvPr>
          <p:cNvSpPr/>
          <p:nvPr/>
        </p:nvSpPr>
        <p:spPr>
          <a:xfrm>
            <a:off x="3590365" y="2412867"/>
            <a:ext cx="2218765" cy="253283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</a:t>
            </a:r>
            <a:r>
              <a:rPr lang="zh-TW" altLang="en-US" sz="2400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首頁製作</a:t>
            </a:r>
            <a:endParaRPr lang="en-US" altLang="zh-TW" sz="2400" dirty="0">
              <a:solidFill>
                <a:schemeClr val="accent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2400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</a:t>
            </a:r>
            <a:r>
              <a:rPr lang="zh-TW" altLang="en-US" sz="2400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整合頁面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69175F0D-8E27-4B03-A809-75BB367DC4DD}"/>
              </a:ext>
            </a:extLst>
          </p:cNvPr>
          <p:cNvSpPr/>
          <p:nvPr/>
        </p:nvSpPr>
        <p:spPr>
          <a:xfrm>
            <a:off x="6318032" y="2412867"/>
            <a:ext cx="2218765" cy="253283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</a:t>
            </a:r>
            <a:r>
              <a:rPr lang="zh-TW" altLang="en-US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提出構想</a:t>
            </a:r>
            <a:endParaRPr lang="en-US" altLang="zh-TW" sz="2000" dirty="0">
              <a:solidFill>
                <a:schemeClr val="accent4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</a:t>
            </a:r>
            <a:r>
              <a:rPr lang="zh-TW" altLang="en-US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素材製作</a:t>
            </a:r>
            <a:r>
              <a:rPr lang="en-US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zh-TW" altLang="en-US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蒐集</a:t>
            </a:r>
            <a:endParaRPr lang="en-US" altLang="zh-TW" sz="2000" dirty="0">
              <a:solidFill>
                <a:schemeClr val="accent4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</a:t>
            </a:r>
            <a:r>
              <a:rPr lang="zh-TW" altLang="en-US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說明視窗</a:t>
            </a:r>
            <a:endParaRPr lang="en-US" altLang="zh-TW" sz="2000" dirty="0">
              <a:solidFill>
                <a:schemeClr val="accent4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</a:t>
            </a:r>
            <a:r>
              <a:rPr lang="zh-TW" altLang="en-US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投影片製作</a:t>
            </a:r>
            <a:endParaRPr lang="en-US" altLang="zh-TW" sz="2000" dirty="0">
              <a:solidFill>
                <a:schemeClr val="accent4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71088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6312ABB-F9C4-4B4A-891C-29793B45D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880" y="2110222"/>
            <a:ext cx="2691654" cy="113573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TW" sz="4800" b="1" kern="1200" dirty="0">
                <a:solidFill>
                  <a:schemeClr val="accent1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The End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0C468F7-A3F2-4E2C-9B79-8F7BAB767A98}"/>
              </a:ext>
            </a:extLst>
          </p:cNvPr>
          <p:cNvSpPr txBox="1"/>
          <p:nvPr/>
        </p:nvSpPr>
        <p:spPr>
          <a:xfrm>
            <a:off x="643467" y="1782981"/>
            <a:ext cx="10905066" cy="4393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altLang="zh-TW" sz="14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TW" sz="14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CEC107C1-E3A1-4388-A02A-47D0A39A5E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325" r="-1" b="2684"/>
          <a:stretch/>
        </p:blipFill>
        <p:spPr>
          <a:xfrm>
            <a:off x="1069640" y="4917611"/>
            <a:ext cx="1626617" cy="1930025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B44C880F-47AE-4254-912D-371DEE5A433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325" r="-1" b="2684"/>
          <a:stretch/>
        </p:blipFill>
        <p:spPr>
          <a:xfrm>
            <a:off x="2714645" y="4927975"/>
            <a:ext cx="1626617" cy="1930025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FF7CB9BB-5EA5-4D32-862B-715B7FBFDE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325" r="-1" b="2684"/>
          <a:stretch/>
        </p:blipFill>
        <p:spPr>
          <a:xfrm>
            <a:off x="4376090" y="4927975"/>
            <a:ext cx="1626617" cy="1930025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8B5F5F1E-AB3F-4051-8D80-02428FEC1F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325" r="-1" b="2684"/>
          <a:stretch/>
        </p:blipFill>
        <p:spPr>
          <a:xfrm>
            <a:off x="5935300" y="4910343"/>
            <a:ext cx="1626617" cy="1930025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AE8B7126-82A7-4EE9-BC35-A4E0F39C11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325" r="-1" b="2684"/>
          <a:stretch/>
        </p:blipFill>
        <p:spPr>
          <a:xfrm>
            <a:off x="9053720" y="4910342"/>
            <a:ext cx="1626617" cy="1930025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F644B35C-B802-4538-921C-25331922F1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325" r="-1" b="2684"/>
          <a:stretch/>
        </p:blipFill>
        <p:spPr>
          <a:xfrm>
            <a:off x="7494510" y="4927974"/>
            <a:ext cx="1626617" cy="1930025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BD29C33E-1E85-453C-ACC1-BAC8D99172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325" r="-1" b="2684"/>
          <a:stretch/>
        </p:blipFill>
        <p:spPr>
          <a:xfrm>
            <a:off x="10612930" y="4917610"/>
            <a:ext cx="1626617" cy="193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547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136</Words>
  <Application>Microsoft Office PowerPoint</Application>
  <PresentationFormat>寬螢幕</PresentationFormat>
  <Paragraphs>36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8" baseType="lpstr">
      <vt:lpstr>微軟正黑體</vt:lpstr>
      <vt:lpstr>微軟正黑體 Light</vt:lpstr>
      <vt:lpstr>新細明體</vt:lpstr>
      <vt:lpstr>Arabic Typesetting</vt:lpstr>
      <vt:lpstr>Arial</vt:lpstr>
      <vt:lpstr>Calibri</vt:lpstr>
      <vt:lpstr>Calibri Light</vt:lpstr>
      <vt:lpstr>Times New Roman</vt:lpstr>
      <vt:lpstr>Office Theme</vt:lpstr>
      <vt:lpstr>網頁程式期末專案</vt:lpstr>
      <vt:lpstr>網站主題</vt:lpstr>
      <vt:lpstr>頁面配置:</vt:lpstr>
      <vt:lpstr>應用技術:</vt:lpstr>
      <vt:lpstr>特色:</vt:lpstr>
      <vt:lpstr>使用說明:</vt:lpstr>
      <vt:lpstr>結果展示:</vt:lpstr>
      <vt:lpstr>分工表: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網頁程式期末專案</dc:title>
  <dc:creator>宜歡 謝</dc:creator>
  <cp:lastModifiedBy>Michelle</cp:lastModifiedBy>
  <cp:revision>22</cp:revision>
  <dcterms:created xsi:type="dcterms:W3CDTF">2021-01-09T11:53:17Z</dcterms:created>
  <dcterms:modified xsi:type="dcterms:W3CDTF">2021-01-12T04:34:53Z</dcterms:modified>
</cp:coreProperties>
</file>